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6"/>
    <p:sldId id="270" r:id="rId7"/>
    <p:sldId id="261" r:id="rId8"/>
    <p:sldId id="262" r:id="rId9"/>
    <p:sldId id="271" r:id="rId10"/>
    <p:sldId id="260" r:id="rId11"/>
    <p:sldId id="272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8A3976-B7FD-4B0F-BCE9-E4E69B95C3EC}" v="33" dt="2026-01-28T05:24:24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08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i manvitha" userId="04907631a089aaa8" providerId="LiveId" clId="{335BE9D0-7CF0-4525-8EFF-FEC2F89FA885}"/>
    <pc:docChg chg="undo custSel addSld delSld modSld">
      <pc:chgData name="siri manvitha" userId="04907631a089aaa8" providerId="LiveId" clId="{335BE9D0-7CF0-4525-8EFF-FEC2F89FA885}" dt="2026-01-28T05:25:56.411" v="676" actId="1076"/>
      <pc:docMkLst>
        <pc:docMk/>
      </pc:docMkLst>
      <pc:sldChg chg="modSp mod">
        <pc:chgData name="siri manvitha" userId="04907631a089aaa8" providerId="LiveId" clId="{335BE9D0-7CF0-4525-8EFF-FEC2F89FA885}" dt="2026-01-28T04:04:14.936" v="567" actId="20577"/>
        <pc:sldMkLst>
          <pc:docMk/>
          <pc:sldMk cId="0" sldId="258"/>
        </pc:sldMkLst>
        <pc:spChg chg="mod">
          <ac:chgData name="siri manvitha" userId="04907631a089aaa8" providerId="LiveId" clId="{335BE9D0-7CF0-4525-8EFF-FEC2F89FA885}" dt="2026-01-28T04:04:12.392" v="56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iri manvitha" userId="04907631a089aaa8" providerId="LiveId" clId="{335BE9D0-7CF0-4525-8EFF-FEC2F89FA885}" dt="2026-01-28T04:04:14.936" v="567" actId="20577"/>
          <ac:spMkLst>
            <pc:docMk/>
            <pc:sldMk cId="0" sldId="258"/>
            <ac:spMk id="7" creationId="{7CF27310-56F4-13A8-B1EF-E6BA8A08E73B}"/>
          </ac:spMkLst>
        </pc:spChg>
      </pc:sldChg>
      <pc:sldChg chg="addSp modSp mod">
        <pc:chgData name="siri manvitha" userId="04907631a089aaa8" providerId="LiveId" clId="{335BE9D0-7CF0-4525-8EFF-FEC2F89FA885}" dt="2026-01-28T04:03:24.898" v="552" actId="20577"/>
        <pc:sldMkLst>
          <pc:docMk/>
          <pc:sldMk cId="0" sldId="259"/>
        </pc:sldMkLst>
        <pc:spChg chg="mod">
          <ac:chgData name="siri manvitha" userId="04907631a089aaa8" providerId="LiveId" clId="{335BE9D0-7CF0-4525-8EFF-FEC2F89FA885}" dt="2026-01-28T04:03:24.898" v="552" actId="20577"/>
          <ac:spMkLst>
            <pc:docMk/>
            <pc:sldMk cId="0" sldId="259"/>
            <ac:spMk id="9" creationId="{644C6200-7F8C-6552-9D91-86325FE7C473}"/>
          </ac:spMkLst>
        </pc:spChg>
        <pc:graphicFrameChg chg="add mod">
          <ac:chgData name="siri manvitha" userId="04907631a089aaa8" providerId="LiveId" clId="{335BE9D0-7CF0-4525-8EFF-FEC2F89FA885}" dt="2026-01-28T03:58:51.131" v="500"/>
          <ac:graphicFrameMkLst>
            <pc:docMk/>
            <pc:sldMk cId="0" sldId="259"/>
            <ac:graphicFrameMk id="4" creationId="{F086AB4F-CCA4-90F7-0A23-BC5E48E7FE61}"/>
          </ac:graphicFrameMkLst>
        </pc:graphicFrameChg>
      </pc:sldChg>
      <pc:sldChg chg="modSp mod">
        <pc:chgData name="siri manvitha" userId="04907631a089aaa8" providerId="LiveId" clId="{335BE9D0-7CF0-4525-8EFF-FEC2F89FA885}" dt="2026-01-27T04:56:39.129" v="497" actId="20577"/>
        <pc:sldMkLst>
          <pc:docMk/>
          <pc:sldMk cId="0" sldId="260"/>
        </pc:sldMkLst>
        <pc:spChg chg="mod">
          <ac:chgData name="siri manvitha" userId="04907631a089aaa8" providerId="LiveId" clId="{335BE9D0-7CF0-4525-8EFF-FEC2F89FA885}" dt="2026-01-27T04:56:39.129" v="497" actId="20577"/>
          <ac:spMkLst>
            <pc:docMk/>
            <pc:sldMk cId="0" sldId="260"/>
            <ac:spMk id="9" creationId="{129B2E81-1771-2931-0CE7-8A2F24622D64}"/>
          </ac:spMkLst>
        </pc:spChg>
      </pc:sldChg>
      <pc:sldChg chg="modSp mod">
        <pc:chgData name="siri manvitha" userId="04907631a089aaa8" providerId="LiveId" clId="{335BE9D0-7CF0-4525-8EFF-FEC2F89FA885}" dt="2026-01-28T04:13:32.635" v="617" actId="14734"/>
        <pc:sldMkLst>
          <pc:docMk/>
          <pc:sldMk cId="0" sldId="262"/>
        </pc:sldMkLst>
        <pc:graphicFrameChg chg="mod modGraphic">
          <ac:chgData name="siri manvitha" userId="04907631a089aaa8" providerId="LiveId" clId="{335BE9D0-7CF0-4525-8EFF-FEC2F89FA885}" dt="2026-01-28T04:13:32.635" v="617" actId="14734"/>
          <ac:graphicFrameMkLst>
            <pc:docMk/>
            <pc:sldMk cId="0" sldId="262"/>
            <ac:graphicFrameMk id="8" creationId="{759FE734-CC42-C885-5CCA-3774AA794BFD}"/>
          </ac:graphicFrameMkLst>
        </pc:graphicFrameChg>
      </pc:sldChg>
      <pc:sldChg chg="del">
        <pc:chgData name="siri manvitha" userId="04907631a089aaa8" providerId="LiveId" clId="{335BE9D0-7CF0-4525-8EFF-FEC2F89FA885}" dt="2026-01-27T05:58:44.435" v="499" actId="47"/>
        <pc:sldMkLst>
          <pc:docMk/>
          <pc:sldMk cId="0" sldId="265"/>
        </pc:sldMkLst>
      </pc:sldChg>
      <pc:sldChg chg="del">
        <pc:chgData name="siri manvitha" userId="04907631a089aaa8" providerId="LiveId" clId="{335BE9D0-7CF0-4525-8EFF-FEC2F89FA885}" dt="2026-01-27T05:58:42.189" v="498" actId="47"/>
        <pc:sldMkLst>
          <pc:docMk/>
          <pc:sldMk cId="0" sldId="268"/>
        </pc:sldMkLst>
      </pc:sldChg>
      <pc:sldChg chg="modSp mod">
        <pc:chgData name="siri manvitha" userId="04907631a089aaa8" providerId="LiveId" clId="{335BE9D0-7CF0-4525-8EFF-FEC2F89FA885}" dt="2026-01-28T04:03:51.027" v="563" actId="20577"/>
        <pc:sldMkLst>
          <pc:docMk/>
          <pc:sldMk cId="3054722686" sldId="269"/>
        </pc:sldMkLst>
        <pc:spChg chg="mod">
          <ac:chgData name="siri manvitha" userId="04907631a089aaa8" providerId="LiveId" clId="{335BE9D0-7CF0-4525-8EFF-FEC2F89FA885}" dt="2026-01-28T04:03:51.027" v="563" actId="20577"/>
          <ac:spMkLst>
            <pc:docMk/>
            <pc:sldMk cId="3054722686" sldId="269"/>
            <ac:spMk id="9" creationId="{2AFEA5BB-2CB8-036B-F47B-A4624FD15CDF}"/>
          </ac:spMkLst>
        </pc:spChg>
      </pc:sldChg>
      <pc:sldChg chg="modSp add mod">
        <pc:chgData name="siri manvitha" userId="04907631a089aaa8" providerId="LiveId" clId="{335BE9D0-7CF0-4525-8EFF-FEC2F89FA885}" dt="2026-01-28T04:14:33.520" v="623" actId="14100"/>
        <pc:sldMkLst>
          <pc:docMk/>
          <pc:sldMk cId="2361660623" sldId="271"/>
        </pc:sldMkLst>
        <pc:graphicFrameChg chg="mod modGraphic">
          <ac:chgData name="siri manvitha" userId="04907631a089aaa8" providerId="LiveId" clId="{335BE9D0-7CF0-4525-8EFF-FEC2F89FA885}" dt="2026-01-28T04:14:33.520" v="623" actId="14100"/>
          <ac:graphicFrameMkLst>
            <pc:docMk/>
            <pc:sldMk cId="2361660623" sldId="271"/>
            <ac:graphicFrameMk id="8" creationId="{89F2A650-340A-2990-32F8-BAC0560E1486}"/>
          </ac:graphicFrameMkLst>
        </pc:graphicFrameChg>
      </pc:sldChg>
      <pc:sldChg chg="addSp delSp modSp add mod">
        <pc:chgData name="siri manvitha" userId="04907631a089aaa8" providerId="LiveId" clId="{335BE9D0-7CF0-4525-8EFF-FEC2F89FA885}" dt="2026-01-28T05:25:56.411" v="676" actId="1076"/>
        <pc:sldMkLst>
          <pc:docMk/>
          <pc:sldMk cId="366271410" sldId="272"/>
        </pc:sldMkLst>
        <pc:spChg chg="mod">
          <ac:chgData name="siri manvitha" userId="04907631a089aaa8" providerId="LiveId" clId="{335BE9D0-7CF0-4525-8EFF-FEC2F89FA885}" dt="2026-01-28T04:15:47.126" v="638" actId="20577"/>
          <ac:spMkLst>
            <pc:docMk/>
            <pc:sldMk cId="366271410" sldId="272"/>
            <ac:spMk id="2" creationId="{95622ABE-D4BC-CF63-F9A9-CA353AAE426F}"/>
          </ac:spMkLst>
        </pc:spChg>
        <pc:spChg chg="add mod">
          <ac:chgData name="siri manvitha" userId="04907631a089aaa8" providerId="LiveId" clId="{335BE9D0-7CF0-4525-8EFF-FEC2F89FA885}" dt="2026-01-28T05:25:07.517" v="675" actId="14100"/>
          <ac:spMkLst>
            <pc:docMk/>
            <pc:sldMk cId="366271410" sldId="272"/>
            <ac:spMk id="6" creationId="{4F559913-985A-5E25-5F09-B259F9D1EB01}"/>
          </ac:spMkLst>
        </pc:spChg>
        <pc:spChg chg="del mod">
          <ac:chgData name="siri manvitha" userId="04907631a089aaa8" providerId="LiveId" clId="{335BE9D0-7CF0-4525-8EFF-FEC2F89FA885}" dt="2026-01-28T05:24:08.189" v="663"/>
          <ac:spMkLst>
            <pc:docMk/>
            <pc:sldMk cId="366271410" sldId="272"/>
            <ac:spMk id="9" creationId="{37F616FD-1798-DAF8-0118-FE6BF8E532FB}"/>
          </ac:spMkLst>
        </pc:spChg>
        <pc:picChg chg="add mod">
          <ac:chgData name="siri manvitha" userId="04907631a089aaa8" providerId="LiveId" clId="{335BE9D0-7CF0-4525-8EFF-FEC2F89FA885}" dt="2026-01-28T05:25:56.411" v="676" actId="1076"/>
          <ac:picMkLst>
            <pc:docMk/>
            <pc:sldMk cId="366271410" sldId="272"/>
            <ac:picMk id="5" creationId="{6A89DDE7-791D-4084-EC67-83F094B80C84}"/>
          </ac:picMkLst>
        </pc:picChg>
      </pc:sldChg>
      <pc:sldChg chg="addSp delSp modSp add mod">
        <pc:chgData name="siri manvitha" userId="04907631a089aaa8" providerId="LiveId" clId="{335BE9D0-7CF0-4525-8EFF-FEC2F89FA885}" dt="2026-01-28T04:27:43.677" v="662"/>
        <pc:sldMkLst>
          <pc:docMk/>
          <pc:sldMk cId="1057519731" sldId="273"/>
        </pc:sldMkLst>
        <pc:spChg chg="mod">
          <ac:chgData name="siri manvitha" userId="04907631a089aaa8" providerId="LiveId" clId="{335BE9D0-7CF0-4525-8EFF-FEC2F89FA885}" dt="2026-01-28T04:23:20.021" v="659" actId="20577"/>
          <ac:spMkLst>
            <pc:docMk/>
            <pc:sldMk cId="1057519731" sldId="273"/>
            <ac:spMk id="2" creationId="{7EF50473-874F-18E0-7D0B-67E681FBB077}"/>
          </ac:spMkLst>
        </pc:spChg>
        <pc:spChg chg="add del mod">
          <ac:chgData name="siri manvitha" userId="04907631a089aaa8" providerId="LiveId" clId="{335BE9D0-7CF0-4525-8EFF-FEC2F89FA885}" dt="2026-01-28T04:27:43.677" v="662"/>
          <ac:spMkLst>
            <pc:docMk/>
            <pc:sldMk cId="1057519731" sldId="273"/>
            <ac:spMk id="9" creationId="{33348532-C567-0725-8503-889EFD8C9AF9}"/>
          </ac:spMkLst>
        </pc:spChg>
        <pc:picChg chg="add mod">
          <ac:chgData name="siri manvitha" userId="04907631a089aaa8" providerId="LiveId" clId="{335BE9D0-7CF0-4525-8EFF-FEC2F89FA885}" dt="2026-01-28T04:26:01.657" v="661" actId="931"/>
          <ac:picMkLst>
            <pc:docMk/>
            <pc:sldMk cId="1057519731" sldId="273"/>
            <ac:picMk id="5" creationId="{C6C30A25-C546-B295-C788-0C39D3B49E30}"/>
          </ac:picMkLst>
        </pc:picChg>
        <pc:picChg chg="add mod">
          <ac:chgData name="siri manvitha" userId="04907631a089aaa8" providerId="LiveId" clId="{335BE9D0-7CF0-4525-8EFF-FEC2F89FA885}" dt="2026-01-28T04:27:43.677" v="662"/>
          <ac:picMkLst>
            <pc:docMk/>
            <pc:sldMk cId="1057519731" sldId="273"/>
            <ac:picMk id="7" creationId="{32EF1450-C297-5DF4-C88C-AAFAF04F61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E769C-B82C-4EBF-AFDE-30368C9013FA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EC1C6-DC07-4644-8E97-0F093327BA8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7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6E1A-79D4-4D66-96A9-02641756F64C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06F6-D2CD-4DB9-9FF0-408322DF33B8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ACE2A9-81E9-C415-C441-00DB3510A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4547" y="155369"/>
            <a:ext cx="1030488" cy="8050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E974FA-3FFF-7EB8-AC73-B693063A5F2A}"/>
              </a:ext>
            </a:extLst>
          </p:cNvPr>
          <p:cNvSpPr/>
          <p:nvPr userDrawn="1"/>
        </p:nvSpPr>
        <p:spPr>
          <a:xfrm>
            <a:off x="59634" y="52318"/>
            <a:ext cx="8994913" cy="6805681"/>
          </a:xfrm>
          <a:prstGeom prst="rect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F3E0-320B-4D14-8163-71670D2A8714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264D-EDA7-4520-847D-75D428A23488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BB296-D3D6-4976-914C-C0AA2A364825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4B5E-B29E-44C1-B11E-DFB87F8CBE91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388D-7596-40C4-8D6A-FBC9A5300160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444E-C341-47B3-8EF7-7471E07CEE7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8120A-6733-425C-9AB1-AC6938AE6D96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B8F7-A5B2-4141-99E2-A507119EDB81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DE0-104F-4C7B-9332-ADB8CD27A54A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E183-FF20-4E68-A843-2ACC3178A355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326571"/>
            <a:ext cx="8251370" cy="1284515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0000"/>
                </a:solidFill>
                <a:latin typeface="Calibri"/>
              </a:defRPr>
            </a:pPr>
            <a:br>
              <a:rPr lang="en-IN" sz="4000"/>
            </a:br>
            <a:br>
              <a:rPr lang="en-IN" sz="4000"/>
            </a:br>
            <a:r>
              <a:rPr lang="en-IN" sz="4000">
                <a:solidFill>
                  <a:schemeClr val="accent1"/>
                </a:solidFill>
              </a:rPr>
              <a:t>VARDHAMAN COLLEGE OF ENGINEERING</a:t>
            </a:r>
            <a:br>
              <a:rPr lang="en-IN">
                <a:solidFill>
                  <a:schemeClr val="accent1"/>
                </a:solidFill>
              </a:rPr>
            </a:br>
            <a:r>
              <a:rPr lang="en-IN" sz="3600">
                <a:solidFill>
                  <a:schemeClr val="accent1"/>
                </a:solidFill>
              </a:rPr>
              <a:t>DEPARTMENT OF COMPUTER SCIENCE AND ENGINEERING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7" y="2209800"/>
            <a:ext cx="7783288" cy="414496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/>
              <a:t>Mini Project Review - I</a:t>
            </a:r>
          </a:p>
          <a:p>
            <a:pPr marL="0" indent="0">
              <a:buNone/>
            </a:pPr>
            <a:r>
              <a:rPr lang="en-US"/>
              <a:t>Title: Medicine Overdose Prediction</a:t>
            </a:r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/>
              <a:t>Team No: 23MPCS-H5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 algn="ctr">
              <a:buNone/>
            </a:pPr>
            <a:endParaRPr lang="en-US" u="sng"/>
          </a:p>
          <a:p>
            <a:pPr marL="0" indent="0" algn="ctr">
              <a:buNone/>
            </a:pPr>
            <a:r>
              <a:rPr lang="en-US" u="sng"/>
              <a:t>Guide Details</a:t>
            </a:r>
          </a:p>
          <a:p>
            <a:pPr marL="0" indent="0" algn="ctr">
              <a:buNone/>
            </a:pPr>
            <a:r>
              <a:rPr lang="en-US"/>
              <a:t>   Dr. GOUSE BAIG MOHAMMAD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/>
              <a:t>Associate Professor</a:t>
            </a:r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/>
              </a:defRPr>
            </a:pPr>
            <a:endParaRPr lang="en-IN"/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/>
              </a:defRPr>
            </a:pPr>
            <a:endParaRPr lang="en-IN"/>
          </a:p>
          <a:p>
            <a:pPr algn="l">
              <a:defRPr sz="2400">
                <a:solidFill>
                  <a:srgbClr val="505050"/>
                </a:solidFill>
                <a:latin typeface="Calibri"/>
              </a:defRPr>
            </a:pP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ABBD3-75E6-DEF6-F2AE-6B19BAF3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4979963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B7C7A2-344E-5673-0549-1169E8DD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010635"/>
              </p:ext>
            </p:extLst>
          </p:nvPr>
        </p:nvGraphicFramePr>
        <p:xfrm>
          <a:off x="1447800" y="3703683"/>
          <a:ext cx="6096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33019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22764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84671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err="1"/>
                        <a:t>S.No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3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23881A05GX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S.SIRI MANVITHA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06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23881A05ER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A.RISHI PREETHAM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159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23881A05GW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S.VISHWEN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441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1. Title</a:t>
            </a:r>
          </a:p>
          <a:p>
            <a:pPr marL="0" indent="0">
              <a:buNone/>
            </a:pPr>
            <a:r>
              <a:rPr lang="en-US"/>
              <a:t>2. Background Research</a:t>
            </a:r>
          </a:p>
          <a:p>
            <a:pPr marL="0" indent="0">
              <a:buNone/>
            </a:pPr>
            <a:r>
              <a:rPr lang="en-US"/>
              <a:t>3. Project Planning (Include Gantt Chart)</a:t>
            </a:r>
          </a:p>
          <a:p>
            <a:pPr marL="0" indent="0">
              <a:buNone/>
            </a:pPr>
            <a:r>
              <a:rPr lang="en-US"/>
              <a:t>4. Literature Survey</a:t>
            </a:r>
          </a:p>
          <a:p>
            <a:pPr marL="0" indent="0">
              <a:buNone/>
            </a:pPr>
            <a:r>
              <a:rPr lang="en-US"/>
              <a:t>5. Objectives</a:t>
            </a:r>
          </a:p>
          <a:p>
            <a:pPr marL="0" indent="0">
              <a:buNone/>
            </a:pPr>
            <a:r>
              <a:rPr lang="en-US"/>
              <a:t>6. Project Milestone Tracker</a:t>
            </a:r>
          </a:p>
          <a:p>
            <a:pPr marL="0" indent="0">
              <a:buNone/>
            </a:pPr>
            <a:r>
              <a:rPr lang="en-US"/>
              <a:t>7. Q&amp;A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94A53-70EB-1F06-12F6-AC289A77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6425" y="6356350"/>
            <a:ext cx="4642338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Medicine Overdose Prediction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F27310-56F4-13A8-B1EF-E6BA8A08E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Domain: </a:t>
            </a:r>
            <a:r>
              <a:rPr lang="en-US" sz="2800" dirty="0"/>
              <a:t>ML, Medical Data Analysis, Healthcare</a:t>
            </a:r>
          </a:p>
          <a:p>
            <a:r>
              <a:rPr lang="en-US" b="1" dirty="0"/>
              <a:t>Type: </a:t>
            </a:r>
            <a:r>
              <a:rPr lang="en-US" sz="2800" dirty="0"/>
              <a:t>Application</a:t>
            </a:r>
          </a:p>
          <a:p>
            <a:r>
              <a:rPr lang="en-US" b="1" dirty="0"/>
              <a:t> Keywords: </a:t>
            </a:r>
            <a:r>
              <a:rPr lang="en-IN" sz="2800" dirty="0">
                <a:solidFill>
                  <a:srgbClr val="0D0D0D"/>
                </a:solidFill>
              </a:rPr>
              <a:t>Medicine Overdose Prediction, Machine Learning, Patient Safety, Drug Interaction Analysis, Clinical Decision Support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768DE-587D-DE97-B725-9F5DE6A49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8965" y="6356350"/>
            <a:ext cx="4994031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br>
              <a:rPr lang="en-IN" dirty="0"/>
            </a:br>
            <a:r>
              <a:rPr lang="en-IN" dirty="0"/>
              <a:t>BACKGROUND RESEARCH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4C6200-7F8C-6552-9D91-86325FE7C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1.Existing Solutions</a:t>
            </a:r>
          </a:p>
          <a:p>
            <a:r>
              <a:rPr lang="en-US" sz="2400" dirty="0">
                <a:latin typeface="Times New Roman"/>
                <a:ea typeface="Calibri"/>
                <a:cs typeface="Arial"/>
              </a:rPr>
              <a:t>EHR-based machine learning models for overdose risk</a:t>
            </a:r>
            <a:endParaRPr lang="en-US" sz="2400" dirty="0">
              <a:latin typeface="Times New Roman"/>
              <a:ea typeface="Calibri"/>
              <a:cs typeface="Calibri"/>
            </a:endParaRPr>
          </a:p>
          <a:p>
            <a:r>
              <a:rPr lang="en-US" sz="2400" dirty="0">
                <a:latin typeface="Times New Roman"/>
                <a:ea typeface="Calibri"/>
                <a:cs typeface="Arial"/>
              </a:rPr>
              <a:t>Clinical decision support (CDS) integrations</a:t>
            </a:r>
            <a:endParaRPr lang="en-US" sz="2400" dirty="0">
              <a:latin typeface="Times New Roman"/>
              <a:ea typeface="Calibri"/>
              <a:cs typeface="Calibri"/>
            </a:endParaRPr>
          </a:p>
          <a:p>
            <a:r>
              <a:rPr lang="en-US" sz="2400" dirty="0">
                <a:latin typeface="Times New Roman"/>
                <a:ea typeface="Calibri"/>
                <a:cs typeface="Arial"/>
              </a:rPr>
              <a:t>Population-level / public-health overdose forecasting</a:t>
            </a:r>
            <a:endParaRPr lang="en-US" sz="2400" dirty="0">
              <a:latin typeface="Times New Roman"/>
              <a:ea typeface="Calibri"/>
              <a:cs typeface="Calibri"/>
            </a:endParaRPr>
          </a:p>
          <a:p>
            <a:r>
              <a:rPr lang="en-US" sz="2400" dirty="0">
                <a:latin typeface="Times New Roman"/>
                <a:ea typeface="Calibri"/>
                <a:cs typeface="Arial"/>
              </a:rPr>
              <a:t>Drug safety / drug-interaction alert systems</a:t>
            </a:r>
            <a:endParaRPr lang="en-US" sz="2400" dirty="0">
              <a:latin typeface="Times New Roman"/>
              <a:ea typeface="Calibri"/>
              <a:cs typeface="Calibri"/>
            </a:endParaRPr>
          </a:p>
          <a:p>
            <a:r>
              <a:rPr lang="en-US" sz="2400" dirty="0">
                <a:latin typeface="Times New Roman"/>
                <a:ea typeface="+mn-lt"/>
                <a:cs typeface="+mn-lt"/>
              </a:rPr>
              <a:t>Prescription Monitoring Programs (PMPs)</a:t>
            </a:r>
          </a:p>
          <a:p>
            <a:r>
              <a:rPr lang="en-US" sz="2400" dirty="0">
                <a:latin typeface="Times New Roman"/>
                <a:ea typeface="+mn-lt"/>
                <a:cs typeface="+mn-lt"/>
              </a:rPr>
              <a:t>Medication Safety Apps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BC60A-965B-FDE1-923B-150BCE30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8" y="6356350"/>
            <a:ext cx="4754880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3F56F-D32E-0C5C-F14A-88AAB1A6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C3CE-05CF-010D-1EB1-B2D3E858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br>
              <a:rPr lang="en-IN" dirty="0"/>
            </a:br>
            <a:r>
              <a:rPr lang="en-IN" dirty="0"/>
              <a:t>BACKGROUND RESEARCH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FEA5BB-2CB8-036B-F47B-A4624FD1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2.Challenges</a:t>
            </a:r>
            <a:endParaRPr lang="en-US" dirty="0">
              <a:ea typeface="Calibri"/>
              <a:cs typeface="Calibri"/>
            </a:endParaRPr>
          </a:p>
          <a:p>
            <a:r>
              <a:rPr lang="en-IN" sz="2400" dirty="0">
                <a:latin typeface="Times New Roman"/>
                <a:ea typeface="Calibri"/>
                <a:cs typeface="Arial"/>
              </a:rPr>
              <a:t>Data limitations — availability, completeness, generalizability</a:t>
            </a:r>
            <a:endParaRPr lang="en-IN" sz="2400" dirty="0">
              <a:latin typeface="Times New Roman"/>
              <a:ea typeface="Calibri"/>
              <a:cs typeface="Calibri"/>
            </a:endParaRPr>
          </a:p>
          <a:p>
            <a:r>
              <a:rPr lang="en-IN" sz="2400" dirty="0">
                <a:latin typeface="Times New Roman"/>
                <a:ea typeface="Calibri"/>
                <a:cs typeface="Arial"/>
              </a:rPr>
              <a:t>Focus on opioids / substance abuse — narrow scope</a:t>
            </a:r>
            <a:endParaRPr lang="en-IN" sz="2400" dirty="0">
              <a:latin typeface="Times New Roman"/>
              <a:ea typeface="Calibri"/>
              <a:cs typeface="Calibri"/>
            </a:endParaRPr>
          </a:p>
          <a:p>
            <a:r>
              <a:rPr lang="en-IN" sz="2400" dirty="0">
                <a:latin typeface="Times New Roman"/>
                <a:ea typeface="Calibri"/>
                <a:cs typeface="Arial"/>
              </a:rPr>
              <a:t>Interpretability, integration, workflow / usability issues</a:t>
            </a:r>
            <a:endParaRPr lang="en-IN" sz="2400" dirty="0">
              <a:latin typeface="Times New Roman"/>
              <a:ea typeface="Calibri"/>
              <a:cs typeface="Calibri"/>
            </a:endParaRPr>
          </a:p>
          <a:p>
            <a:r>
              <a:rPr lang="en-IN" sz="2400" dirty="0">
                <a:latin typeface="Times New Roman"/>
                <a:ea typeface="Calibri"/>
                <a:cs typeface="Arial"/>
              </a:rPr>
              <a:t>Ethical, fairness, and bias concerns</a:t>
            </a:r>
          </a:p>
          <a:p>
            <a:r>
              <a:rPr lang="en-IN" sz="2400" dirty="0">
                <a:latin typeface="Times New Roman"/>
                <a:ea typeface="Calibri"/>
                <a:cs typeface="Arial"/>
              </a:rPr>
              <a:t>Limited evidence of clinical impact</a:t>
            </a:r>
          </a:p>
          <a:p>
            <a:r>
              <a:rPr lang="en-IN" sz="2400" dirty="0">
                <a:latin typeface="Times New Roman"/>
                <a:ea typeface="Calibri"/>
                <a:cs typeface="Arial"/>
              </a:rPr>
              <a:t>Polypharmacy, comorbidities, and non-opioid drugs under-studied</a:t>
            </a:r>
          </a:p>
          <a:p>
            <a:endParaRPr lang="en-IN" b="1" dirty="0">
              <a:latin typeface="Arial"/>
              <a:ea typeface="Calibri"/>
              <a:cs typeface="Arial"/>
            </a:endParaRPr>
          </a:p>
          <a:p>
            <a:endParaRPr lang="en-IN" b="1" dirty="0">
              <a:latin typeface="Arial"/>
              <a:ea typeface="Calibri"/>
              <a:cs typeface="Arial"/>
            </a:endParaRPr>
          </a:p>
          <a:p>
            <a:endParaRPr lang="en-IN" dirty="0">
              <a:ea typeface="Calibri"/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2323C-04D7-62D9-EC96-244A6C08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8" y="6356350"/>
            <a:ext cx="4754880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05472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E22E-03A4-D721-13FA-03EE4E15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0A60-A357-0F61-B680-325CCA58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br>
              <a:rPr lang="en-IN"/>
            </a:br>
            <a:r>
              <a:rPr lang="en-IN"/>
              <a:t>BACKGROUND RESEARCH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5F231B-DAF7-41E0-E0D2-AB6F9FC70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3.Motivation behind the proposed work</a:t>
            </a:r>
            <a:endParaRPr lang="en-US">
              <a:ea typeface="Calibri"/>
              <a:cs typeface="Calibri"/>
            </a:endParaRPr>
          </a:p>
          <a:p>
            <a:r>
              <a:rPr lang="en-US" sz="2400">
                <a:latin typeface="Times New Roman"/>
                <a:ea typeface="+mn-lt"/>
                <a:cs typeface="+mn-lt"/>
              </a:rPr>
              <a:t>Need for Comprehensive, Multi-Drug Overdose Prediction</a:t>
            </a:r>
            <a:endParaRPr lang="en-US" sz="2400">
              <a:latin typeface="Times New Roman"/>
              <a:ea typeface="Calibri"/>
              <a:cs typeface="Calibri"/>
            </a:endParaRPr>
          </a:p>
          <a:p>
            <a:r>
              <a:rPr lang="en-IN" sz="2400">
                <a:latin typeface="Times New Roman"/>
                <a:cs typeface="Times New Roman"/>
              </a:rPr>
              <a:t>Personalized Healthcare and Better Clinical Decision Support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IN" sz="2400">
                <a:latin typeface="Times New Roman"/>
                <a:ea typeface="+mn-lt"/>
                <a:cs typeface="+mn-lt"/>
              </a:rPr>
              <a:t>Preventing Avoidable Hospitalizations</a:t>
            </a:r>
            <a:endParaRPr lang="en-IN" sz="2400">
              <a:latin typeface="Times New Roman"/>
              <a:ea typeface="Calibri"/>
              <a:cs typeface="Calibri"/>
            </a:endParaRPr>
          </a:p>
          <a:p>
            <a:r>
              <a:rPr lang="en-IN" sz="2400">
                <a:latin typeface="Times New Roman"/>
                <a:ea typeface="+mn-lt"/>
                <a:cs typeface="Arial"/>
              </a:rPr>
              <a:t>Broader patient safety  beyond opioids Context-relevant data and decision support</a:t>
            </a:r>
          </a:p>
          <a:p>
            <a:r>
              <a:rPr lang="en-IN" sz="2400">
                <a:latin typeface="Times New Roman"/>
                <a:ea typeface="+mn-lt"/>
                <a:cs typeface="Arial"/>
              </a:rPr>
              <a:t>Proactive prevention and early intervention</a:t>
            </a:r>
          </a:p>
          <a:p>
            <a:r>
              <a:rPr lang="en-IN" sz="2400">
                <a:latin typeface="Times New Roman"/>
                <a:ea typeface="+mn-lt"/>
                <a:cs typeface="Arial"/>
              </a:rPr>
              <a:t>Bridging research-to-practice gap</a:t>
            </a:r>
          </a:p>
          <a:p>
            <a:r>
              <a:rPr lang="en-IN" sz="2400">
                <a:latin typeface="Times New Roman"/>
                <a:ea typeface="+mn-lt"/>
                <a:cs typeface="Arial"/>
              </a:rPr>
              <a:t>Ethical and equitable medication management</a:t>
            </a:r>
          </a:p>
          <a:p>
            <a:endParaRPr lang="en-IN" sz="2400">
              <a:latin typeface="Times New Roman"/>
              <a:ea typeface="+mn-lt"/>
              <a:cs typeface="Arial"/>
            </a:endParaRPr>
          </a:p>
          <a:p>
            <a:endParaRPr lang="en-IN" sz="2400" b="1">
              <a:latin typeface="Arial"/>
              <a:ea typeface="+mn-lt"/>
              <a:cs typeface="Arial"/>
            </a:endParaRPr>
          </a:p>
          <a:p>
            <a:endParaRPr lang="en-IN" sz="2400" b="1">
              <a:latin typeface="Arial"/>
              <a:ea typeface="Calibri"/>
              <a:cs typeface="Arial"/>
            </a:endParaRPr>
          </a:p>
          <a:p>
            <a:endParaRPr lang="en-IN" sz="2400">
              <a:latin typeface="Times New Roman"/>
              <a:ea typeface="Calibri"/>
              <a:cs typeface="Calibri"/>
            </a:endParaRPr>
          </a:p>
          <a:p>
            <a:endParaRPr lang="en-IN">
              <a:ea typeface="Calibri"/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4DB11-E935-9FB0-9225-49FAF12E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8" y="6356350"/>
            <a:ext cx="4754880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476681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/>
              <a:t>PROJECT PLANNING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B2A4C85-E365-B4F3-924E-A99686463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530" y="1566835"/>
            <a:ext cx="8842073" cy="407510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D8E64-E73A-318D-234A-F0CDC815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5078437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/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59FE734-CC42-C885-5CCA-3774AA794B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280381"/>
              </p:ext>
            </p:extLst>
          </p:nvPr>
        </p:nvGraphicFramePr>
        <p:xfrm>
          <a:off x="215900" y="1595887"/>
          <a:ext cx="8750298" cy="411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049">
                  <a:extLst>
                    <a:ext uri="{9D8B030D-6E8A-4147-A177-3AD203B41FA5}">
                      <a16:colId xmlns:a16="http://schemas.microsoft.com/office/drawing/2014/main" val="4048337868"/>
                    </a:ext>
                  </a:extLst>
                </a:gridCol>
                <a:gridCol w="2017378">
                  <a:extLst>
                    <a:ext uri="{9D8B030D-6E8A-4147-A177-3AD203B41FA5}">
                      <a16:colId xmlns:a16="http://schemas.microsoft.com/office/drawing/2014/main" val="24165074"/>
                    </a:ext>
                  </a:extLst>
                </a:gridCol>
                <a:gridCol w="1703938">
                  <a:extLst>
                    <a:ext uri="{9D8B030D-6E8A-4147-A177-3AD203B41FA5}">
                      <a16:colId xmlns:a16="http://schemas.microsoft.com/office/drawing/2014/main" val="1117162474"/>
                    </a:ext>
                  </a:extLst>
                </a:gridCol>
                <a:gridCol w="1699471">
                  <a:extLst>
                    <a:ext uri="{9D8B030D-6E8A-4147-A177-3AD203B41FA5}">
                      <a16:colId xmlns:a16="http://schemas.microsoft.com/office/drawing/2014/main" val="4108360998"/>
                    </a:ext>
                  </a:extLst>
                </a:gridCol>
                <a:gridCol w="1772462">
                  <a:extLst>
                    <a:ext uri="{9D8B030D-6E8A-4147-A177-3AD203B41FA5}">
                      <a16:colId xmlns:a16="http://schemas.microsoft.com/office/drawing/2014/main" val="3815876108"/>
                    </a:ext>
                  </a:extLst>
                </a:gridCol>
              </a:tblGrid>
              <a:tr h="640505">
                <a:tc>
                  <a:txBody>
                    <a:bodyPr/>
                    <a:lstStyle/>
                    <a:p>
                      <a:r>
                        <a:rPr lang="en-IN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Approach/Algorithm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457043"/>
                  </a:ext>
                </a:extLst>
              </a:tr>
              <a:tr h="136889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Improving palliative care with deep learning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an 18-layer Deep Neural Network to predict mortality.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Stanford Hospital EHR data of 2million patients.</a:t>
                      </a:r>
                    </a:p>
                    <a:p>
                      <a:pPr lvl="0">
                        <a:buNone/>
                      </a:pPr>
                      <a:endParaRPr lang="en-IN" sz="1800" b="0" i="0" u="none" strike="noStrike" noProof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achieved high accuracy in predicting 3–12 month mortality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Mortality is only a proxy &amp; model interpretability is limited.</a:t>
                      </a:r>
                    </a:p>
                    <a:p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58481"/>
                  </a:ext>
                </a:extLst>
              </a:tr>
              <a:tr h="1990168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Doctor AI: Predicting Clinical Events via Recurrent Neural Networks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Random Forest and Logistic Regression to predict opioid overdose risk.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Optum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Clinformatics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 Mart (U.S. healthcare claims dataset)</a:t>
                      </a:r>
                      <a:r>
                        <a:rPr lang="en-IN" sz="1800" b="0" i="0" u="none" strike="noStrike" noProof="0" dirty="0"/>
                        <a:t>.</a:t>
                      </a:r>
                      <a:endParaRPr lang="en-IN" b="0" dirty="0"/>
                    </a:p>
                    <a:p>
                      <a:pPr lvl="0">
                        <a:buNone/>
                      </a:pPr>
                      <a:endParaRPr lang="en-IN" sz="1800" b="0" i="0" u="none" strike="noStrike" noProof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Ensemble ML models accurately identify high-risk opioid overdose patients.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Claims data lacks clinical depth and has limited generalizability.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22606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26EE8-8FBF-1459-69A0-0D4BA26B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643" y="6356350"/>
            <a:ext cx="4656405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82F6B-693C-8F04-1C1A-B7C78C01E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B0F4-4225-5AEA-6376-DC34D8C92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/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9F2A650-340A-2990-32F8-BAC0560E14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0709214"/>
              </p:ext>
            </p:extLst>
          </p:nvPr>
        </p:nvGraphicFramePr>
        <p:xfrm>
          <a:off x="215900" y="1595887"/>
          <a:ext cx="8750298" cy="4279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4048337868"/>
                    </a:ext>
                  </a:extLst>
                </a:gridCol>
                <a:gridCol w="1707527">
                  <a:extLst>
                    <a:ext uri="{9D8B030D-6E8A-4147-A177-3AD203B41FA5}">
                      <a16:colId xmlns:a16="http://schemas.microsoft.com/office/drawing/2014/main" val="24165074"/>
                    </a:ext>
                  </a:extLst>
                </a:gridCol>
                <a:gridCol w="1703938">
                  <a:extLst>
                    <a:ext uri="{9D8B030D-6E8A-4147-A177-3AD203B41FA5}">
                      <a16:colId xmlns:a16="http://schemas.microsoft.com/office/drawing/2014/main" val="1117162474"/>
                    </a:ext>
                  </a:extLst>
                </a:gridCol>
                <a:gridCol w="1699471">
                  <a:extLst>
                    <a:ext uri="{9D8B030D-6E8A-4147-A177-3AD203B41FA5}">
                      <a16:colId xmlns:a16="http://schemas.microsoft.com/office/drawing/2014/main" val="4108360998"/>
                    </a:ext>
                  </a:extLst>
                </a:gridCol>
                <a:gridCol w="1772462">
                  <a:extLst>
                    <a:ext uri="{9D8B030D-6E8A-4147-A177-3AD203B41FA5}">
                      <a16:colId xmlns:a16="http://schemas.microsoft.com/office/drawing/2014/main" val="3815876108"/>
                    </a:ext>
                  </a:extLst>
                </a:gridCol>
              </a:tblGrid>
              <a:tr h="562794">
                <a:tc>
                  <a:txBody>
                    <a:bodyPr/>
                    <a:lstStyle/>
                    <a:p>
                      <a:r>
                        <a:rPr lang="en-IN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Approach/Algorithm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457043"/>
                  </a:ext>
                </a:extLst>
              </a:tr>
              <a:tr h="1527583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Drug and Opioid-Involved Overdose Deaths — United States, 2013–2017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epidemiological trend analysis with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Joinpoint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regression.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National Vital Statistics System U.S. mortality data.</a:t>
                      </a:r>
                      <a:endParaRPr lang="en-IN" sz="1800" b="0" i="0" u="none" strike="noStrike" noProof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Opioidoverdose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deaths increased sharply due to synthetic opioids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Death records have incomplete toxicology and reporting gaps.</a:t>
                      </a:r>
                    </a:p>
                    <a:p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58481"/>
                  </a:ext>
                </a:extLst>
              </a:tr>
              <a:tr h="1901736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Learning on Electronic Health Records to Improve Disease Coding Accuracy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deep neural networks for ICD code prediction.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Cerner Health Facts EHR inpatient dataset.</a:t>
                      </a:r>
                    </a:p>
                    <a:p>
                      <a:pPr lvl="0">
                        <a:buNone/>
                      </a:pPr>
                      <a:endParaRPr lang="en-IN" sz="1800" b="0" i="0" u="none" strike="noStrike" noProof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learning outperformed traditional ML in disease coding.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interpretability and lack of real-world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22606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B5259-B86E-51EE-5BBE-02EDBCF3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643" y="6356350"/>
            <a:ext cx="4656405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361660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9B2E81-1771-2931-0CE7-8A2F24622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To build a system that predicts the chances of medicine overdose using patient data</a:t>
            </a:r>
          </a:p>
          <a:p>
            <a:pPr marL="514350" indent="-514350">
              <a:buFont typeface="Arial"/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To build a system that predicts the chances of medicine overdose using patient data</a:t>
            </a:r>
            <a:endParaRPr lang="en-IN" sz="2400" dirty="0">
              <a:latin typeface="Times New Roman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To apply machine learning models &amp; along with </a:t>
            </a:r>
            <a:r>
              <a:rPr lang="en-US" sz="2400" dirty="0" err="1">
                <a:latin typeface="Times New Roman"/>
                <a:cs typeface="Times New Roman"/>
              </a:rPr>
              <a:t>RAG,ollama</a:t>
            </a:r>
            <a:r>
              <a:rPr lang="en-US" sz="2400">
                <a:latin typeface="Times New Roman"/>
                <a:cs typeface="Times New Roman"/>
              </a:rPr>
              <a:t> to </a:t>
            </a:r>
            <a:r>
              <a:rPr lang="en-US" sz="2400" dirty="0">
                <a:latin typeface="Times New Roman"/>
                <a:cs typeface="Times New Roman"/>
              </a:rPr>
              <a:t>find patterns that may lead to overdose.</a:t>
            </a:r>
          </a:p>
          <a:p>
            <a:pPr marL="514350" indent="-514350">
              <a:buFont typeface="Arial"/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To integrate the system with electronic health records for real-time alerts and safer medical decisions.</a:t>
            </a:r>
            <a:endParaRPr lang="en-IN" sz="2400" dirty="0">
              <a:latin typeface="Times New Roman"/>
              <a:cs typeface="Times New Roman"/>
            </a:endParaRPr>
          </a:p>
          <a:p>
            <a:pPr marL="514350" indent="-514350">
              <a:buFont typeface="Arial"/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To help doctors and pharmacists by giving early warnings about risky prescriptions.</a:t>
            </a:r>
            <a:endParaRPr lang="en-IN" sz="2400" dirty="0">
              <a:latin typeface="Times New Roman"/>
              <a:cs typeface="Times New Roman"/>
            </a:endParaRPr>
          </a:p>
          <a:p>
            <a:pPr marL="514350" indent="-514350">
              <a:buAutoNum type="arabicPeriod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E8448-2A11-46F9-CD08-14330D65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7107" y="6356350"/>
            <a:ext cx="6077243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993D1-9FFE-EA3B-B82E-E46390A3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2ABE-D4BC-CF63-F9A9-CA353AAE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dirty="0"/>
              <a:t>DESIGN PHASE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89DDE7-791D-4084-EC67-83F094B80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815" y="1257300"/>
            <a:ext cx="3160370" cy="4525963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F85B6-05E3-6739-47F3-6332D92F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7107" y="6356350"/>
            <a:ext cx="6077243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59913-985A-5E25-5F09-B259F9D1EB01}"/>
              </a:ext>
            </a:extLst>
          </p:cNvPr>
          <p:cNvSpPr txBox="1"/>
          <p:nvPr/>
        </p:nvSpPr>
        <p:spPr>
          <a:xfrm>
            <a:off x="3889022" y="2647245"/>
            <a:ext cx="2935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66271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A034D-CA96-EC46-22A3-D6B590E0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0473-874F-18E0-7D0B-67E681FB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dirty="0"/>
              <a:t>IMPLEMENTATION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EF1450-C297-5DF4-C88C-AAFAF04F6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2495" y="2038889"/>
            <a:ext cx="7059010" cy="3648584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1B834-2FCB-CCCB-E5B2-00F7ECE6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7107" y="6356350"/>
            <a:ext cx="6077243" cy="365125"/>
          </a:xfrm>
        </p:spPr>
        <p:txBody>
          <a:bodyPr/>
          <a:lstStyle/>
          <a:p>
            <a:r>
              <a:rPr lang="en-US" b="1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105751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647</Words>
  <Application>Microsoft Office PowerPoint</Application>
  <PresentationFormat>On-screen Show (4:3)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VARDHAMAN COLLEGE OF ENGINEERING DEPARTMENT OF COMPUTER SCIENCE AND ENGINEERING</vt:lpstr>
      <vt:lpstr>Table of Contents</vt:lpstr>
      <vt:lpstr>Medicine Overdose Prediction</vt:lpstr>
      <vt:lpstr> BACKGROUND RESEARCH</vt:lpstr>
      <vt:lpstr> BACKGROUND RESEARCH</vt:lpstr>
      <vt:lpstr> BACKGROUND RESEARCH</vt:lpstr>
      <vt:lpstr>PROJECT PLANNING</vt:lpstr>
      <vt:lpstr>LITERATURE SURVEY</vt:lpstr>
      <vt:lpstr>LITERATURE SURVEY</vt:lpstr>
      <vt:lpstr>OBJECTIVES</vt:lpstr>
      <vt:lpstr>DESIGN PHASE</vt:lpstr>
      <vt:lpstr>IMPLEMENTATION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VARDHAMAN COLLEGE OF ENGINEERING DEPARTMENT OF AIML &amp; AIDS</dc:title>
  <dc:creator>MANISH CHHABRA</dc:creator>
  <dc:description>generated using python-pptx</dc:description>
  <cp:lastModifiedBy>siri manvitha</cp:lastModifiedBy>
  <cp:revision>1</cp:revision>
  <dcterms:created xsi:type="dcterms:W3CDTF">2013-01-27T09:14:16Z</dcterms:created>
  <dcterms:modified xsi:type="dcterms:W3CDTF">2026-01-28T05:26:01Z</dcterms:modified>
</cp:coreProperties>
</file>